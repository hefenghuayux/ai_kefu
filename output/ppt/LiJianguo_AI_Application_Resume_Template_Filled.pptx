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7556500" cy="10693400"/>
  <p:notesSz cx="6858000" cy="9144000"/>
  <p:embeddedFontLst>
    <p:embeddedFont>
      <p:font typeface="思源黑体 Medium" panose="02010600030101010101" charset="-122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1679" y="3062496"/>
            <a:ext cx="6610604" cy="0"/>
          </a:xfrm>
          <a:prstGeom prst="line">
            <a:avLst/>
          </a:prstGeom>
          <a:ln w="19050" cap="flat">
            <a:solidFill>
              <a:srgbClr val="446898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528040" y="1530909"/>
            <a:ext cx="6610604" cy="0"/>
          </a:xfrm>
          <a:prstGeom prst="line">
            <a:avLst/>
          </a:prstGeom>
          <a:ln w="19050" cap="flat">
            <a:solidFill>
              <a:srgbClr val="446898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381972" y="4624025"/>
            <a:ext cx="6607168" cy="0"/>
          </a:xfrm>
          <a:prstGeom prst="line">
            <a:avLst/>
          </a:prstGeom>
          <a:ln w="19050" cap="flat">
            <a:solidFill>
              <a:srgbClr val="446898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H="1" flipV="1">
            <a:off x="372447" y="2688617"/>
            <a:ext cx="0" cy="9392906"/>
          </a:xfrm>
          <a:prstGeom prst="line">
            <a:avLst/>
          </a:prstGeom>
          <a:ln w="19050" cap="flat">
            <a:solidFill>
              <a:srgbClr val="446898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347177" y="2777263"/>
            <a:ext cx="1979185" cy="460367"/>
          </a:xfrm>
          <a:custGeom>
            <a:avLst/>
            <a:gdLst/>
            <a:ahLst/>
            <a:cxnLst/>
            <a:rect l="l" t="t" r="r" b="b"/>
            <a:pathLst>
              <a:path w="1979185" h="460367">
                <a:moveTo>
                  <a:pt x="0" y="0"/>
                </a:moveTo>
                <a:lnTo>
                  <a:pt x="1979185" y="0"/>
                </a:lnTo>
                <a:lnTo>
                  <a:pt x="1979185" y="460367"/>
                </a:lnTo>
                <a:lnTo>
                  <a:pt x="0" y="460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47177" y="1234891"/>
            <a:ext cx="1979185" cy="460367"/>
          </a:xfrm>
          <a:custGeom>
            <a:avLst/>
            <a:gdLst/>
            <a:ahLst/>
            <a:cxnLst/>
            <a:rect l="l" t="t" r="r" b="b"/>
            <a:pathLst>
              <a:path w="1979185" h="460367">
                <a:moveTo>
                  <a:pt x="0" y="0"/>
                </a:moveTo>
                <a:lnTo>
                  <a:pt x="1979185" y="0"/>
                </a:lnTo>
                <a:lnTo>
                  <a:pt x="1979185" y="460367"/>
                </a:lnTo>
                <a:lnTo>
                  <a:pt x="0" y="460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64943" y="4323713"/>
            <a:ext cx="1979185" cy="460367"/>
          </a:xfrm>
          <a:custGeom>
            <a:avLst/>
            <a:gdLst/>
            <a:ahLst/>
            <a:cxnLst/>
            <a:rect l="l" t="t" r="r" b="b"/>
            <a:pathLst>
              <a:path w="1979185" h="460367">
                <a:moveTo>
                  <a:pt x="0" y="0"/>
                </a:moveTo>
                <a:lnTo>
                  <a:pt x="1979185" y="0"/>
                </a:lnTo>
                <a:lnTo>
                  <a:pt x="1979185" y="460367"/>
                </a:lnTo>
                <a:lnTo>
                  <a:pt x="0" y="460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43434" y="2837392"/>
            <a:ext cx="185921" cy="155442"/>
          </a:xfrm>
          <a:custGeom>
            <a:avLst/>
            <a:gdLst/>
            <a:ahLst/>
            <a:cxnLst/>
            <a:rect l="l" t="t" r="r" b="b"/>
            <a:pathLst>
              <a:path w="185921" h="155442">
                <a:moveTo>
                  <a:pt x="0" y="0"/>
                </a:moveTo>
                <a:lnTo>
                  <a:pt x="185921" y="0"/>
                </a:lnTo>
                <a:lnTo>
                  <a:pt x="185921" y="155442"/>
                </a:lnTo>
                <a:lnTo>
                  <a:pt x="0" y="155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63470" y="4427175"/>
            <a:ext cx="152395" cy="158490"/>
          </a:xfrm>
          <a:custGeom>
            <a:avLst/>
            <a:gdLst/>
            <a:ahLst/>
            <a:cxnLst/>
            <a:rect l="l" t="t" r="r" b="b"/>
            <a:pathLst>
              <a:path w="152395" h="158490">
                <a:moveTo>
                  <a:pt x="0" y="0"/>
                </a:moveTo>
                <a:lnTo>
                  <a:pt x="152394" y="0"/>
                </a:lnTo>
                <a:lnTo>
                  <a:pt x="152394" y="158491"/>
                </a:lnTo>
                <a:lnTo>
                  <a:pt x="0" y="158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47177" y="871806"/>
            <a:ext cx="3658342" cy="239150"/>
          </a:xfrm>
          <a:custGeom>
            <a:avLst/>
            <a:gdLst/>
            <a:ahLst/>
            <a:cxnLst/>
            <a:rect l="l" t="t" r="r" b="b"/>
            <a:pathLst>
              <a:path w="3658342" h="239150">
                <a:moveTo>
                  <a:pt x="0" y="0"/>
                </a:moveTo>
                <a:lnTo>
                  <a:pt x="3658342" y="0"/>
                </a:lnTo>
                <a:lnTo>
                  <a:pt x="3658342" y="239149"/>
                </a:lnTo>
                <a:lnTo>
                  <a:pt x="0" y="2391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931238" y="896391"/>
            <a:ext cx="3231045" cy="207806"/>
          </a:xfrm>
          <a:custGeom>
            <a:avLst/>
            <a:gdLst/>
            <a:ahLst/>
            <a:cxnLst/>
            <a:rect l="l" t="t" r="r" b="b"/>
            <a:pathLst>
              <a:path w="3231045" h="207806">
                <a:moveTo>
                  <a:pt x="0" y="0"/>
                </a:moveTo>
                <a:lnTo>
                  <a:pt x="3231045" y="0"/>
                </a:lnTo>
                <a:lnTo>
                  <a:pt x="3231045" y="207806"/>
                </a:lnTo>
                <a:lnTo>
                  <a:pt x="0" y="2078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43434" y="1277392"/>
            <a:ext cx="187742" cy="200526"/>
          </a:xfrm>
          <a:custGeom>
            <a:avLst/>
            <a:gdLst/>
            <a:ahLst/>
            <a:cxnLst/>
            <a:rect l="l" t="t" r="r" b="b"/>
            <a:pathLst>
              <a:path w="187742" h="200526">
                <a:moveTo>
                  <a:pt x="0" y="0"/>
                </a:moveTo>
                <a:lnTo>
                  <a:pt x="187742" y="0"/>
                </a:lnTo>
                <a:lnTo>
                  <a:pt x="187742" y="200526"/>
                </a:lnTo>
                <a:lnTo>
                  <a:pt x="0" y="2005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5927855" y="1622746"/>
            <a:ext cx="1207663" cy="1208254"/>
            <a:chOff x="0" y="0"/>
            <a:chExt cx="432799" cy="43301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2799" cy="433011"/>
            </a:xfrm>
            <a:custGeom>
              <a:avLst/>
              <a:gdLst/>
              <a:ahLst/>
              <a:cxnLst/>
              <a:rect l="l" t="t" r="r" b="b"/>
              <a:pathLst>
                <a:path w="432799" h="433011">
                  <a:moveTo>
                    <a:pt x="57696" y="0"/>
                  </a:moveTo>
                  <a:lnTo>
                    <a:pt x="375103" y="0"/>
                  </a:lnTo>
                  <a:cubicBezTo>
                    <a:pt x="406968" y="0"/>
                    <a:pt x="432799" y="25831"/>
                    <a:pt x="432799" y="57696"/>
                  </a:cubicBezTo>
                  <a:lnTo>
                    <a:pt x="432799" y="375315"/>
                  </a:lnTo>
                  <a:cubicBezTo>
                    <a:pt x="432799" y="407180"/>
                    <a:pt x="406968" y="433011"/>
                    <a:pt x="375103" y="433011"/>
                  </a:cubicBezTo>
                  <a:lnTo>
                    <a:pt x="57696" y="433011"/>
                  </a:lnTo>
                  <a:cubicBezTo>
                    <a:pt x="42394" y="433011"/>
                    <a:pt x="27719" y="426932"/>
                    <a:pt x="16899" y="416112"/>
                  </a:cubicBezTo>
                  <a:cubicBezTo>
                    <a:pt x="6079" y="405292"/>
                    <a:pt x="0" y="390617"/>
                    <a:pt x="0" y="375315"/>
                  </a:cubicBezTo>
                  <a:lnTo>
                    <a:pt x="0" y="57696"/>
                  </a:lnTo>
                  <a:cubicBezTo>
                    <a:pt x="0" y="42394"/>
                    <a:pt x="6079" y="27719"/>
                    <a:pt x="16899" y="16899"/>
                  </a:cubicBezTo>
                  <a:cubicBezTo>
                    <a:pt x="27719" y="6079"/>
                    <a:pt x="42394" y="0"/>
                    <a:pt x="57696" y="0"/>
                  </a:cubicBezTo>
                  <a:close/>
                </a:path>
              </a:pathLst>
            </a:custGeom>
            <a:solidFill>
              <a:srgbClr val="44689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432799" cy="4901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2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956642" y="1649255"/>
            <a:ext cx="1155237" cy="1155237"/>
            <a:chOff x="0" y="0"/>
            <a:chExt cx="6350000" cy="6350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51270" cy="6350000"/>
            </a:xfrm>
            <a:custGeom>
              <a:avLst/>
              <a:gdLst/>
              <a:ahLst/>
              <a:cxnLst/>
              <a:rect l="l" t="t" r="r" b="b"/>
              <a:pathLst>
                <a:path w="6351270" h="6350000">
                  <a:moveTo>
                    <a:pt x="5985510" y="0"/>
                  </a:moveTo>
                  <a:lnTo>
                    <a:pt x="364490" y="0"/>
                  </a:lnTo>
                  <a:cubicBezTo>
                    <a:pt x="162560" y="0"/>
                    <a:pt x="0" y="162560"/>
                    <a:pt x="0" y="364490"/>
                  </a:cubicBezTo>
                  <a:lnTo>
                    <a:pt x="0" y="5986780"/>
                  </a:lnTo>
                  <a:cubicBezTo>
                    <a:pt x="0" y="6187440"/>
                    <a:pt x="162560" y="6350000"/>
                    <a:pt x="364490" y="6350000"/>
                  </a:cubicBezTo>
                  <a:lnTo>
                    <a:pt x="5986780" y="6350000"/>
                  </a:lnTo>
                  <a:cubicBezTo>
                    <a:pt x="6187440" y="6350000"/>
                    <a:pt x="6351270" y="6187440"/>
                    <a:pt x="6351270" y="5985510"/>
                  </a:cubicBezTo>
                  <a:lnTo>
                    <a:pt x="6351270" y="364490"/>
                  </a:lnTo>
                  <a:cubicBezTo>
                    <a:pt x="6350000" y="162560"/>
                    <a:pt x="6187440" y="0"/>
                    <a:pt x="5985510" y="0"/>
                  </a:cubicBezTo>
                  <a:close/>
                </a:path>
              </a:pathLst>
            </a:custGeom>
            <a:blipFill>
              <a:blip r:embed="rId8"/>
              <a:stretch>
                <a:fillRect t="-22656" r="-3774" b="-22656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354591" y="257690"/>
            <a:ext cx="1892594" cy="502510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0" lvl="0" indent="0" algn="just">
              <a:lnSpc>
                <a:spcPts val="4202"/>
              </a:lnSpc>
              <a:spcBef>
                <a:spcPct val="0"/>
              </a:spcBef>
            </a:pPr>
            <a:r>
              <a:rPr lang="zh-CN" altLang="en-US" sz="2200" b="1">
                <a:solidFill>
                  <a:srgbClr val="375679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思源黑体 Bold"/>
                <a:sym typeface="思源黑体 Bold"/>
              </a:rPr>
              <a:t>个人简历</a:t>
            </a:r>
            <a:endParaRPr lang="en-US" sz="2200" b="1">
              <a:solidFill>
                <a:srgbClr val="375679"/>
              </a:solidFill>
              <a:latin typeface="Calibri" panose="020F0502020204030204" pitchFamily="34" charset="0"/>
              <a:ea typeface="微软雅黑" panose="020B0503020204020204" pitchFamily="34" charset="-122"/>
              <a:cs typeface="思源黑体 Bold"/>
              <a:sym typeface="思源黑体 Bold"/>
            </a:endParaRPr>
          </a:p>
        </p:txBody>
      </p:sp>
      <p:sp>
        <p:nvSpPr>
          <p:cNvPr id="20" name="AutoShape 20"/>
          <p:cNvSpPr/>
          <p:nvPr/>
        </p:nvSpPr>
        <p:spPr>
          <a:xfrm flipH="1" flipV="1">
            <a:off x="2130208" y="385950"/>
            <a:ext cx="0" cy="334246"/>
          </a:xfrm>
          <a:prstGeom prst="line">
            <a:avLst/>
          </a:prstGeom>
          <a:ln w="28575" cap="flat">
            <a:solidFill>
              <a:srgbClr val="44689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1"/>
          <p:cNvSpPr txBox="1"/>
          <p:nvPr/>
        </p:nvSpPr>
        <p:spPr>
          <a:xfrm>
            <a:off x="1028143" y="4361813"/>
            <a:ext cx="1053770" cy="224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b="1">
                <a:solidFill>
                  <a:srgbClr val="FFFFFF"/>
                </a:solidFill>
                <a:latin typeface="思源黑体 Medium"/>
                <a:ea typeface="思源黑体 Medium"/>
                <a:cs typeface="思源黑体 Medium"/>
                <a:sym typeface="思源黑体 Medium"/>
              </a:rPr>
              <a:t>专业技能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8014" y="3397582"/>
            <a:ext cx="6329502" cy="654346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129540" lvl="1" algn="l">
              <a:lnSpc>
                <a:spcPts val="1679"/>
              </a:lnSpc>
            </a:pPr>
            <a:r>
              <a:rPr lang="en-US" altLang="zh-CN" sz="88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GPA</a:t>
            </a:r>
            <a:r>
              <a:rPr lang="zh-CN" altLang="en-US" sz="88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：</a:t>
            </a:r>
            <a:r>
              <a:rPr lang="en-US" altLang="zh-CN" sz="88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3.80/4.00</a:t>
            </a:r>
            <a:r>
              <a:rPr lang="zh-CN" altLang="en-US" sz="88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（专业前</a:t>
            </a:r>
            <a:r>
              <a:rPr lang="en-US" altLang="zh-CN" sz="88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30%</a:t>
            </a:r>
            <a:r>
              <a:rPr lang="zh-CN" altLang="en-US" sz="88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）    英语六级 </a:t>
            </a:r>
            <a:r>
              <a:rPr lang="en-US" altLang="zh-CN" sz="88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628</a:t>
            </a:r>
            <a:r>
              <a:rPr lang="zh-CN" altLang="en-US" sz="88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分，校级优秀学生奖学金
</a:t>
            </a:r>
            <a:r>
              <a:rPr lang="zh-CN" altLang="en-US" sz="880" b="1">
                <a:solidFill>
                  <a:srgbClr val="AC8A5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升学规划：</a:t>
            </a:r>
            <a:r>
              <a:rPr lang="en-US" altLang="zh-CN" sz="880" b="1">
                <a:solidFill>
                  <a:srgbClr val="AC8A5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2026.09 </a:t>
            </a:r>
            <a:r>
              <a:rPr lang="zh-CN" altLang="en-US" sz="880" b="1">
                <a:solidFill>
                  <a:srgbClr val="AC8A5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本校直博（机器人工程，已录取）</a:t>
            </a:r>
            <a:r>
              <a:rPr lang="zh-CN" altLang="en-US" sz="88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
主修课程：数据结构与算法、计算机网络、软件工程、操作系统、计算机组成原理、编译原理、计算机体系结构</a:t>
            </a:r>
            <a:endParaRPr lang="en-US" sz="880">
              <a:solidFill>
                <a:srgbClr val="222222"/>
              </a:solidFill>
              <a:latin typeface="Calibri" panose="020F0502020204030204" pitchFamily="34" charset="0"/>
              <a:ea typeface="微软雅黑" panose="020B0503020204020204" pitchFamily="34" charset="-122"/>
              <a:cs typeface="字由点字典黑 75J"/>
              <a:sym typeface="字由点字典黑 75J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182793" y="3091128"/>
            <a:ext cx="1524673" cy="283539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0" lvl="0" indent="0" algn="l">
              <a:lnSpc>
                <a:spcPts val="2152"/>
              </a:lnSpc>
              <a:spcBef>
                <a:spcPct val="0"/>
              </a:spcBef>
            </a:pPr>
            <a:r>
              <a:rPr lang="zh-CN" altLang="en-US" sz="1100" b="1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武汉大学</a:t>
            </a:r>
            <a:endParaRPr lang="en-US" sz="1100" b="1">
              <a:solidFill>
                <a:srgbClr val="222222"/>
              </a:solidFill>
              <a:latin typeface="Calibri" panose="020F0502020204030204" pitchFamily="34" charset="0"/>
              <a:ea typeface="微软雅黑" panose="020B0503020204020204" pitchFamily="34" charset="-122"/>
              <a:cs typeface="字由点字典黑 75J"/>
              <a:sym typeface="字由点字典黑 75J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61721" y="3091128"/>
            <a:ext cx="2117051" cy="268407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0" lvl="0" indent="0" algn="l">
              <a:lnSpc>
                <a:spcPts val="2152"/>
              </a:lnSpc>
              <a:spcBef>
                <a:spcPct val="0"/>
              </a:spcBef>
            </a:pPr>
            <a:r>
              <a:rPr lang="en-US" sz="9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2022.09 - 2026.06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61252" y="3091128"/>
            <a:ext cx="1285791" cy="267766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0" lvl="0" indent="0" algn="r">
              <a:lnSpc>
                <a:spcPts val="2152"/>
              </a:lnSpc>
              <a:spcBef>
                <a:spcPct val="0"/>
              </a:spcBef>
            </a:pPr>
            <a:r>
              <a:rPr lang="zh-CN" altLang="en-US" sz="9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全日制本科</a:t>
            </a:r>
            <a:endParaRPr lang="en-US" sz="920">
              <a:solidFill>
                <a:srgbClr val="222222"/>
              </a:solidFill>
              <a:latin typeface="Calibri" panose="020F0502020204030204" pitchFamily="34" charset="0"/>
              <a:ea typeface="微软雅黑" panose="020B0503020204020204" pitchFamily="34" charset="-122"/>
              <a:cs typeface="字由点字典黑 75J"/>
              <a:sym typeface="字由点字典黑 75J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707466" y="3091071"/>
            <a:ext cx="1466951" cy="267766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0" lvl="0" indent="0" algn="l">
              <a:lnSpc>
                <a:spcPts val="2152"/>
              </a:lnSpc>
              <a:spcBef>
                <a:spcPct val="0"/>
              </a:spcBef>
            </a:pPr>
            <a:r>
              <a:rPr lang="zh-CN" altLang="en-US" sz="9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计算机科学与技术</a:t>
            </a:r>
            <a:endParaRPr lang="en-US" sz="920">
              <a:solidFill>
                <a:srgbClr val="222222"/>
              </a:solidFill>
              <a:latin typeface="Calibri" panose="020F0502020204030204" pitchFamily="34" charset="0"/>
              <a:ea typeface="微软雅黑" panose="020B0503020204020204" pitchFamily="34" charset="-122"/>
              <a:cs typeface="字由点字典黑 75J"/>
              <a:sym typeface="字由点字典黑 75J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387734" y="4624025"/>
            <a:ext cx="6601406" cy="1271117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130033" lvl="1" algn="l">
              <a:lnSpc>
                <a:spcPts val="1987"/>
              </a:lnSpc>
            </a:pPr>
            <a:r>
              <a:rPr 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1. AI</a:t>
            </a:r>
            <a:r>
              <a:rPr lang="zh-CN" alt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应用开发：熟悉 </a:t>
            </a:r>
            <a:r>
              <a:rPr 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LangGraph、RAG/GraphRAG、Text2Cypher、Neo4j、</a:t>
            </a:r>
            <a:r>
              <a:rPr lang="zh-CN" alt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工具调用、</a:t>
            </a:r>
            <a:r>
              <a:rPr 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SSE </a:t>
            </a:r>
            <a:r>
              <a:rPr lang="zh-CN" alt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流式响应、幻觉检测与 </a:t>
            </a:r>
            <a:r>
              <a:rPr 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Agent </a:t>
            </a:r>
            <a:r>
              <a:rPr lang="zh-CN" alt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评测。
</a:t>
            </a:r>
            <a:r>
              <a:rPr lang="en-US" altLang="zh-CN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2. </a:t>
            </a:r>
            <a:r>
              <a:rPr 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LLM</a:t>
            </a:r>
            <a:r>
              <a:rPr lang="zh-CN" alt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基础：熟悉 </a:t>
            </a:r>
            <a:r>
              <a:rPr 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Transformer、KV Cache、Prefill/Decode，</a:t>
            </a:r>
            <a:r>
              <a:rPr lang="zh-CN" alt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理解端侧 </a:t>
            </a:r>
            <a:r>
              <a:rPr 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LLM </a:t>
            </a:r>
            <a:r>
              <a:rPr lang="zh-CN" alt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推理流程，基于 </a:t>
            </a:r>
            <a:r>
              <a:rPr 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C/C++ </a:t>
            </a:r>
            <a:r>
              <a:rPr lang="zh-CN" alt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修改过 </a:t>
            </a:r>
            <a:r>
              <a:rPr 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MNN </a:t>
            </a:r>
            <a:r>
              <a:rPr lang="zh-CN" alt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推理框架。
</a:t>
            </a:r>
            <a:r>
              <a:rPr lang="en-US" altLang="zh-CN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3. </a:t>
            </a:r>
            <a:r>
              <a:rPr lang="zh-CN" alt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后端开发：熟悉 </a:t>
            </a:r>
            <a:r>
              <a:rPr 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Python/FastAPI、Java/Spring Boot、Go/Gin、C/C++，</a:t>
            </a:r>
            <a:r>
              <a:rPr lang="zh-CN" alt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具备前后端分离系统经验。
</a:t>
            </a:r>
            <a:r>
              <a:rPr lang="en-US" altLang="zh-CN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4. </a:t>
            </a:r>
            <a:r>
              <a:rPr 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Redis/MySQL：</a:t>
            </a:r>
            <a:r>
              <a:rPr lang="zh-CN" alt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熟悉索引与事务、</a:t>
            </a:r>
            <a:r>
              <a:rPr 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Redis </a:t>
            </a:r>
            <a:r>
              <a:rPr lang="zh-CN" alt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缓存、分布式锁、</a:t>
            </a:r>
            <a:r>
              <a:rPr 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TTL、</a:t>
            </a:r>
            <a:r>
              <a:rPr lang="zh-CN" alt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缓存穿透</a:t>
            </a:r>
            <a:r>
              <a:rPr lang="en-US" altLang="zh-CN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/</a:t>
            </a:r>
            <a:r>
              <a:rPr lang="zh-CN" alt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击穿</a:t>
            </a:r>
            <a:r>
              <a:rPr lang="en-US" altLang="zh-CN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/</a:t>
            </a:r>
            <a:r>
              <a:rPr lang="zh-CN" alt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雪崩与一致性方案。
</a:t>
            </a:r>
            <a:r>
              <a:rPr lang="en-US" altLang="zh-CN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5. </a:t>
            </a:r>
            <a:r>
              <a:rPr lang="zh-CN" alt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工程工具：熟悉 </a:t>
            </a:r>
            <a:r>
              <a:rPr 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Linux、Git；</a:t>
            </a:r>
            <a:r>
              <a:rPr lang="zh-CN" alt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了解 </a:t>
            </a:r>
            <a:r>
              <a:rPr lang="en-US" sz="8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Vue 3、TypeScript、Pinia、Element Plus。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57389" y="2788777"/>
            <a:ext cx="1053770" cy="224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b="1">
                <a:solidFill>
                  <a:srgbClr val="FFFFFF"/>
                </a:solidFill>
                <a:latin typeface="思源黑体 Medium"/>
                <a:ea typeface="思源黑体 Medium"/>
                <a:cs typeface="思源黑体 Medium"/>
                <a:sym typeface="思源黑体 Medium"/>
              </a:rPr>
              <a:t>教育背景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57389" y="1246405"/>
            <a:ext cx="1053770" cy="224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b="1">
                <a:solidFill>
                  <a:srgbClr val="FFFFFF"/>
                </a:solidFill>
                <a:latin typeface="思源黑体 Medium"/>
                <a:ea typeface="思源黑体 Medium"/>
                <a:cs typeface="思源黑体 Medium"/>
                <a:sym typeface="思源黑体 Medium"/>
              </a:rPr>
              <a:t>个人信息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76961" y="1694758"/>
            <a:ext cx="502702" cy="209353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0" lvl="0" indent="0" algn="just">
              <a:lnSpc>
                <a:spcPts val="1631"/>
              </a:lnSpc>
              <a:spcBef>
                <a:spcPct val="0"/>
              </a:spcBef>
            </a:pPr>
            <a:r>
              <a:rPr lang="zh-CN" altLang="en-US" sz="90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思源黑体 Bold"/>
                <a:sym typeface="思源黑体 Bold"/>
              </a:rPr>
              <a:t>姓名：</a:t>
            </a:r>
            <a:endParaRPr lang="en-US" sz="900">
              <a:solidFill>
                <a:srgbClr val="222222"/>
              </a:solidFill>
              <a:latin typeface="Calibri" panose="020F0502020204030204" pitchFamily="34" charset="0"/>
              <a:ea typeface="微软雅黑" panose="020B0503020204020204" pitchFamily="34" charset="-122"/>
              <a:cs typeface="思源黑体 Bold"/>
              <a:sym typeface="思源黑体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346608" y="489098"/>
            <a:ext cx="2506237" cy="290849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0" lvl="0" indent="0" algn="just">
              <a:lnSpc>
                <a:spcPts val="2269"/>
              </a:lnSpc>
              <a:spcBef>
                <a:spcPct val="0"/>
              </a:spcBef>
            </a:pPr>
            <a:r>
              <a:rPr lang="en-US" sz="1300">
                <a:solidFill>
                  <a:srgbClr val="375679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Arimo Bold"/>
                <a:sym typeface="Arimo Bold"/>
              </a:rPr>
              <a:t>AI APPLICATION RESUME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6961" y="2036936"/>
            <a:ext cx="502702" cy="209353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0" lvl="0" indent="0" algn="just">
              <a:lnSpc>
                <a:spcPts val="1631"/>
              </a:lnSpc>
              <a:spcBef>
                <a:spcPct val="0"/>
              </a:spcBef>
            </a:pPr>
            <a:r>
              <a:rPr lang="zh-CN" altLang="en-US" sz="90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思源黑体 Bold"/>
                <a:sym typeface="思源黑体 Bold"/>
              </a:rPr>
              <a:t>年龄：</a:t>
            </a:r>
            <a:endParaRPr lang="en-US" sz="900">
              <a:solidFill>
                <a:srgbClr val="222222"/>
              </a:solidFill>
              <a:latin typeface="Calibri" panose="020F0502020204030204" pitchFamily="34" charset="0"/>
              <a:ea typeface="微软雅黑" panose="020B0503020204020204" pitchFamily="34" charset="-122"/>
              <a:cs typeface="思源黑体 Bold"/>
              <a:sym typeface="思源黑体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2621006" y="2032253"/>
            <a:ext cx="502702" cy="207749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0" lvl="0" indent="0" algn="just">
              <a:lnSpc>
                <a:spcPts val="1631"/>
              </a:lnSpc>
              <a:spcBef>
                <a:spcPct val="0"/>
              </a:spcBef>
            </a:pPr>
            <a:r>
              <a:rPr lang="zh-CN" altLang="en-US" sz="90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思源黑体 Bold"/>
                <a:sym typeface="思源黑体 Bold"/>
              </a:rPr>
              <a:t>邮箱：</a:t>
            </a:r>
            <a:endParaRPr lang="en-US" sz="900">
              <a:solidFill>
                <a:srgbClr val="222222"/>
              </a:solidFill>
              <a:latin typeface="Calibri" panose="020F0502020204030204" pitchFamily="34" charset="0"/>
              <a:ea typeface="微软雅黑" panose="020B0503020204020204" pitchFamily="34" charset="-122"/>
              <a:cs typeface="思源黑体 Bold"/>
              <a:sym typeface="思源黑体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776961" y="2379115"/>
            <a:ext cx="502702" cy="209353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0" lvl="0" indent="0" algn="just">
              <a:lnSpc>
                <a:spcPts val="1631"/>
              </a:lnSpc>
              <a:spcBef>
                <a:spcPct val="0"/>
              </a:spcBef>
            </a:pPr>
            <a:r>
              <a:rPr lang="zh-CN" altLang="en-US" sz="90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思源黑体 Bold"/>
                <a:sym typeface="思源黑体 Bold"/>
              </a:rPr>
              <a:t>电话：</a:t>
            </a:r>
            <a:endParaRPr lang="en-US" sz="900">
              <a:solidFill>
                <a:srgbClr val="222222"/>
              </a:solidFill>
              <a:latin typeface="Calibri" panose="020F0502020204030204" pitchFamily="34" charset="0"/>
              <a:ea typeface="微软雅黑" panose="020B0503020204020204" pitchFamily="34" charset="-122"/>
              <a:cs typeface="思源黑体 Bold"/>
              <a:sym typeface="思源黑体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2621006" y="2374431"/>
            <a:ext cx="502702" cy="209353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0" lvl="0" indent="0" algn="just">
              <a:lnSpc>
                <a:spcPts val="1631"/>
              </a:lnSpc>
              <a:spcBef>
                <a:spcPct val="0"/>
              </a:spcBef>
            </a:pPr>
            <a:r>
              <a:rPr lang="zh-CN" altLang="en-US" sz="90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思源黑体 Bold"/>
                <a:sym typeface="思源黑体 Bold"/>
              </a:rPr>
              <a:t>意向：</a:t>
            </a:r>
            <a:endParaRPr lang="en-US" sz="900">
              <a:solidFill>
                <a:srgbClr val="222222"/>
              </a:solidFill>
              <a:latin typeface="Calibri" panose="020F0502020204030204" pitchFamily="34" charset="0"/>
              <a:ea typeface="微软雅黑" panose="020B0503020204020204" pitchFamily="34" charset="-122"/>
              <a:cs typeface="思源黑体 Bold"/>
              <a:sym typeface="思源黑体 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279662" y="1694758"/>
            <a:ext cx="502702" cy="209353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0" lvl="0" indent="0" algn="just">
              <a:lnSpc>
                <a:spcPts val="1631"/>
              </a:lnSpc>
              <a:spcBef>
                <a:spcPct val="0"/>
              </a:spcBef>
            </a:pPr>
            <a:r>
              <a:rPr lang="zh-CN" altLang="en-US" sz="900" b="1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思源黑体"/>
                <a:sym typeface="思源黑体"/>
              </a:rPr>
              <a:t>李建国</a:t>
            </a:r>
            <a:endParaRPr lang="en-US" sz="900" b="1">
              <a:solidFill>
                <a:srgbClr val="222222"/>
              </a:solidFill>
              <a:latin typeface="Calibri" panose="020F0502020204030204" pitchFamily="34" charset="0"/>
              <a:ea typeface="微软雅黑" panose="020B0503020204020204" pitchFamily="34" charset="-122"/>
              <a:cs typeface="思源黑体"/>
              <a:sym typeface="思源黑体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279662" y="2036936"/>
            <a:ext cx="773213" cy="209994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0" lvl="0" indent="0" algn="just">
              <a:lnSpc>
                <a:spcPts val="1631"/>
              </a:lnSpc>
              <a:spcBef>
                <a:spcPct val="0"/>
              </a:spcBef>
            </a:pPr>
            <a:r>
              <a:rPr lang="en-US" sz="90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思源黑体"/>
                <a:sym typeface="思源黑体"/>
              </a:rPr>
              <a:t>22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123708" y="2032253"/>
            <a:ext cx="1780156" cy="208327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0" lvl="0" indent="0" algn="just">
              <a:lnSpc>
                <a:spcPts val="1631"/>
              </a:lnSpc>
              <a:spcBef>
                <a:spcPct val="0"/>
              </a:spcBef>
            </a:pPr>
            <a:r>
              <a:rPr lang="en-US" sz="85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思源黑体"/>
                <a:sym typeface="思源黑体"/>
              </a:rPr>
              <a:t>1460952065@qq.com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79662" y="2379115"/>
            <a:ext cx="967523" cy="208968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0" lvl="0" indent="0" algn="just">
              <a:lnSpc>
                <a:spcPts val="1631"/>
              </a:lnSpc>
              <a:spcBef>
                <a:spcPct val="0"/>
              </a:spcBef>
            </a:pPr>
            <a:r>
              <a:rPr lang="en-US" sz="8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思源黑体"/>
                <a:sym typeface="思源黑体"/>
              </a:rPr>
              <a:t>156-0614-6920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123707" y="2374431"/>
            <a:ext cx="2349500" cy="206082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0" lvl="0" indent="0" algn="just">
              <a:lnSpc>
                <a:spcPts val="1631"/>
              </a:lnSpc>
              <a:spcBef>
                <a:spcPct val="0"/>
              </a:spcBef>
            </a:pPr>
            <a:r>
              <a:rPr lang="en-US" sz="80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思源黑体"/>
                <a:sym typeface="思源黑体"/>
              </a:rPr>
              <a:t>AI</a:t>
            </a:r>
            <a:r>
              <a:rPr lang="zh-CN" altLang="en-US" sz="80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思源黑体"/>
                <a:sym typeface="思源黑体"/>
              </a:rPr>
              <a:t>应用 </a:t>
            </a:r>
            <a:r>
              <a:rPr lang="en-US" altLang="zh-CN" sz="80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思源黑体"/>
                <a:sym typeface="思源黑体"/>
              </a:rPr>
              <a:t>/ </a:t>
            </a:r>
            <a:r>
              <a:rPr lang="en-US" sz="80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思源黑体"/>
                <a:sym typeface="思源黑体"/>
              </a:rPr>
              <a:t>LLM Agent / AI</a:t>
            </a:r>
            <a:r>
              <a:rPr lang="zh-CN" altLang="en-US" sz="80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思源黑体"/>
                <a:sym typeface="思源黑体"/>
              </a:rPr>
              <a:t>后端实习</a:t>
            </a:r>
            <a:endParaRPr lang="en-US" sz="800">
              <a:solidFill>
                <a:srgbClr val="222222"/>
              </a:solidFill>
              <a:latin typeface="Calibri" panose="020F0502020204030204" pitchFamily="34" charset="0"/>
              <a:ea typeface="微软雅黑" panose="020B0503020204020204" pitchFamily="34" charset="-122"/>
              <a:cs typeface="思源黑体"/>
              <a:sym typeface="思源黑体"/>
            </a:endParaRPr>
          </a:p>
        </p:txBody>
      </p:sp>
      <p:sp>
        <p:nvSpPr>
          <p:cNvPr id="41" name="AutoShape 41"/>
          <p:cNvSpPr/>
          <p:nvPr/>
        </p:nvSpPr>
        <p:spPr>
          <a:xfrm flipV="1">
            <a:off x="563276" y="7224504"/>
            <a:ext cx="6624277" cy="0"/>
          </a:xfrm>
          <a:prstGeom prst="line">
            <a:avLst/>
          </a:prstGeom>
          <a:ln w="19050" cap="flat">
            <a:solidFill>
              <a:srgbClr val="446898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42" name="Freeform 42"/>
          <p:cNvSpPr/>
          <p:nvPr/>
        </p:nvSpPr>
        <p:spPr>
          <a:xfrm>
            <a:off x="372447" y="6933160"/>
            <a:ext cx="1979185" cy="460367"/>
          </a:xfrm>
          <a:custGeom>
            <a:avLst/>
            <a:gdLst/>
            <a:ahLst/>
            <a:cxnLst/>
            <a:rect l="l" t="t" r="r" b="b"/>
            <a:pathLst>
              <a:path w="1979185" h="460367">
                <a:moveTo>
                  <a:pt x="0" y="0"/>
                </a:moveTo>
                <a:lnTo>
                  <a:pt x="1979185" y="0"/>
                </a:lnTo>
                <a:lnTo>
                  <a:pt x="1979185" y="460367"/>
                </a:lnTo>
                <a:lnTo>
                  <a:pt x="0" y="460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786991" y="7001138"/>
            <a:ext cx="167634" cy="167634"/>
          </a:xfrm>
          <a:custGeom>
            <a:avLst/>
            <a:gdLst/>
            <a:ahLst/>
            <a:cxnLst/>
            <a:rect l="l" t="t" r="r" b="b"/>
            <a:pathLst>
              <a:path w="167634" h="167634">
                <a:moveTo>
                  <a:pt x="0" y="0"/>
                </a:moveTo>
                <a:lnTo>
                  <a:pt x="167634" y="0"/>
                </a:lnTo>
                <a:lnTo>
                  <a:pt x="167634" y="167634"/>
                </a:lnTo>
                <a:lnTo>
                  <a:pt x="0" y="1676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1082659" y="6944675"/>
            <a:ext cx="1053770" cy="224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b="1">
                <a:solidFill>
                  <a:srgbClr val="FFFFFF"/>
                </a:solidFill>
                <a:latin typeface="思源黑体 Medium"/>
                <a:ea typeface="思源黑体 Medium"/>
                <a:cs typeface="思源黑体 Medium"/>
                <a:sym typeface="思源黑体 Medium"/>
              </a:rPr>
              <a:t>项目经历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02231" y="7693180"/>
            <a:ext cx="6361683" cy="1520866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129540" lvl="1" algn="l">
              <a:lnSpc>
                <a:spcPts val="1679"/>
              </a:lnSpc>
            </a:pPr>
            <a:r>
              <a:rPr lang="zh-CN" altLang="en-US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构建“电商业务平台 </a:t>
            </a:r>
            <a:r>
              <a:rPr lang="en-US" altLang="zh-CN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+ </a:t>
            </a:r>
            <a:r>
              <a:rPr lang="zh-CN" altLang="en-US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智能客服 </a:t>
            </a:r>
            <a:r>
              <a:rPr lang="en-US" altLang="zh-CN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Agent”</a:t>
            </a:r>
            <a:r>
              <a:rPr lang="zh-CN" altLang="en-US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双系统架构，电商平台负责商铺、优惠券、订单、库存、秒杀、用户认证等核心业务，客服 </a:t>
            </a:r>
            <a:r>
              <a:rPr lang="en-US" altLang="zh-CN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Agent </a:t>
            </a:r>
            <a:r>
              <a:rPr lang="zh-CN" altLang="en-US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接入业务系统，提供可追踪、可复盘的问答能力。
意图识别：</a:t>
            </a:r>
            <a:r>
              <a:rPr lang="en-US" altLang="zh-CN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Prompt + DeepSeek </a:t>
            </a:r>
            <a:r>
              <a:rPr lang="zh-CN" altLang="en-US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实现结构化路由，区分闲聊、知识库检索、实时业务查询等场景。
混合检索：结构化业务数据走 </a:t>
            </a:r>
            <a:r>
              <a:rPr lang="en-US" altLang="zh-CN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Neo4j Text2Cypher/</a:t>
            </a:r>
            <a:r>
              <a:rPr lang="zh-CN" altLang="en-US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预定义 </a:t>
            </a:r>
            <a:r>
              <a:rPr lang="en-US" altLang="zh-CN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Cypher</a:t>
            </a:r>
            <a:r>
              <a:rPr lang="zh-CN" altLang="en-US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，非结构化规则文档走 </a:t>
            </a:r>
            <a:r>
              <a:rPr lang="en-US" altLang="zh-CN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GraphRAG</a:t>
            </a:r>
            <a:r>
              <a:rPr lang="zh-CN" altLang="en-US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，复杂问题由 </a:t>
            </a:r>
            <a:r>
              <a:rPr lang="en-US" altLang="zh-CN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Planner </a:t>
            </a:r>
            <a:r>
              <a:rPr lang="zh-CN" altLang="en-US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调度工具。
</a:t>
            </a:r>
            <a:r>
              <a:rPr lang="en-US" altLang="zh-CN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Agent </a:t>
            </a:r>
            <a:r>
              <a:rPr lang="zh-CN" altLang="en-US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工程化：沉淀渐进式 </a:t>
            </a:r>
            <a:r>
              <a:rPr lang="en-US" altLang="zh-CN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Skill runbook</a:t>
            </a:r>
            <a:r>
              <a:rPr lang="zh-CN" altLang="en-US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，使用 </a:t>
            </a:r>
            <a:r>
              <a:rPr lang="en-US" altLang="zh-CN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X-Request-ID </a:t>
            </a:r>
            <a:r>
              <a:rPr lang="zh-CN" altLang="en-US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串联日志，构建覆盖路由、</a:t>
            </a:r>
            <a:r>
              <a:rPr lang="en-US" altLang="zh-CN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Text2Cypher</a:t>
            </a:r>
            <a:r>
              <a:rPr lang="zh-CN" altLang="en-US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、</a:t>
            </a:r>
            <a:r>
              <a:rPr lang="en-US" altLang="zh-CN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GraphRAG</a:t>
            </a:r>
            <a:r>
              <a:rPr lang="zh-CN" altLang="en-US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、安全拒答的 </a:t>
            </a:r>
            <a:r>
              <a:rPr lang="en-US" altLang="zh-CN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Eval</a:t>
            </a:r>
            <a:r>
              <a:rPr lang="zh-CN" altLang="en-US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，语义正确率 </a:t>
            </a:r>
            <a:r>
              <a:rPr lang="en-US" altLang="zh-CN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86%</a:t>
            </a:r>
            <a:r>
              <a:rPr lang="zh-CN" altLang="en-US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、工具选择正确率 </a:t>
            </a:r>
            <a:r>
              <a:rPr lang="en-US" altLang="zh-CN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91%</a:t>
            </a:r>
            <a:r>
              <a:rPr lang="zh-CN" altLang="en-US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。
电商后端：</a:t>
            </a:r>
            <a:r>
              <a:rPr lang="en-US" altLang="zh-CN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Redis </a:t>
            </a:r>
            <a:r>
              <a:rPr lang="zh-CN" altLang="en-US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空值缓存、差异化 </a:t>
            </a:r>
            <a:r>
              <a:rPr lang="en-US" altLang="zh-CN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TTL</a:t>
            </a:r>
            <a:r>
              <a:rPr lang="zh-CN" altLang="en-US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、互斥锁治理缓存问题；</a:t>
            </a:r>
            <a:r>
              <a:rPr lang="en-US" altLang="zh-CN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Redisson </a:t>
            </a:r>
            <a:r>
              <a:rPr lang="zh-CN" altLang="en-US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分布式锁 </a:t>
            </a:r>
            <a:r>
              <a:rPr lang="en-US" altLang="zh-CN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+ Lua </a:t>
            </a:r>
            <a:r>
              <a:rPr lang="zh-CN" altLang="en-US" sz="715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保障秒杀库存扣减与一人一单。</a:t>
            </a:r>
            <a:endParaRPr lang="en-US" sz="715">
              <a:solidFill>
                <a:srgbClr val="222222"/>
              </a:solidFill>
              <a:latin typeface="Calibri" panose="020F0502020204030204" pitchFamily="34" charset="0"/>
              <a:ea typeface="微软雅黑" panose="020B0503020204020204" pitchFamily="34" charset="-122"/>
              <a:cs typeface="字由点字典黑 75J"/>
              <a:sym typeface="字由点字典黑 75J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2626151" y="7327920"/>
            <a:ext cx="2356632" cy="271998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0" lvl="0" indent="0" algn="l">
              <a:lnSpc>
                <a:spcPts val="2152"/>
              </a:lnSpc>
              <a:spcBef>
                <a:spcPct val="0"/>
              </a:spcBef>
            </a:pPr>
            <a:r>
              <a:rPr lang="zh-CN" altLang="en-US" sz="1050" b="1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电商平台与智能客服 </a:t>
            </a:r>
            <a:r>
              <a:rPr lang="en-US" altLang="zh-CN" sz="1050" b="1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Agent </a:t>
            </a:r>
            <a:r>
              <a:rPr lang="zh-CN" altLang="en-US" sz="1050" b="1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系统</a:t>
            </a:r>
            <a:endParaRPr lang="en-US" sz="1050" b="1">
              <a:solidFill>
                <a:srgbClr val="222222"/>
              </a:solidFill>
              <a:latin typeface="Calibri" panose="020F0502020204030204" pitchFamily="34" charset="0"/>
              <a:ea typeface="微软雅黑" panose="020B0503020204020204" pitchFamily="34" charset="-122"/>
              <a:cs typeface="字由点字典黑 75J"/>
              <a:sym typeface="字由点字典黑 75J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802231" y="7327920"/>
            <a:ext cx="2117051" cy="267702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0" lvl="0" indent="0" algn="l">
              <a:lnSpc>
                <a:spcPts val="2152"/>
              </a:lnSpc>
              <a:spcBef>
                <a:spcPct val="0"/>
              </a:spcBef>
            </a:pPr>
            <a:r>
              <a:rPr lang="en-US" sz="90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2026.01 - 2026.06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579492" y="7364167"/>
            <a:ext cx="1849311" cy="227948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0" lvl="0" indent="0" algn="l">
              <a:lnSpc>
                <a:spcPts val="1822"/>
              </a:lnSpc>
              <a:spcBef>
                <a:spcPct val="0"/>
              </a:spcBef>
            </a:pPr>
            <a:r>
              <a:rPr lang="zh-CN" altLang="en-US" sz="88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核心开发者</a:t>
            </a:r>
            <a:endParaRPr lang="en-US" sz="880">
              <a:solidFill>
                <a:srgbClr val="222222"/>
              </a:solidFill>
              <a:latin typeface="Calibri" panose="020F0502020204030204" pitchFamily="34" charset="0"/>
              <a:ea typeface="微软雅黑" panose="020B0503020204020204" pitchFamily="34" charset="-122"/>
              <a:cs typeface="字由点字典黑 75J"/>
              <a:sym typeface="字由点字典黑 75J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6800050" y="9888375"/>
            <a:ext cx="160300" cy="325410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90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"/>
                <a:sym typeface="字由点字典黑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7570" y="1471610"/>
            <a:ext cx="6361683" cy="1086708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129540" lvl="1" algn="l">
              <a:lnSpc>
                <a:spcPts val="1679"/>
              </a:lnSpc>
            </a:pPr>
            <a:r>
              <a:rPr lang="zh-CN" altLang="en-US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技术栈：</a:t>
            </a:r>
            <a:r>
              <a:rPr lang="en-US" altLang="zh-CN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C</a:t>
            </a:r>
            <a:r>
              <a:rPr lang="zh-CN" altLang="en-US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、</a:t>
            </a:r>
            <a:r>
              <a:rPr lang="en-US" altLang="zh-CN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HarmonyOS Kernel</a:t>
            </a:r>
            <a:r>
              <a:rPr lang="zh-CN" altLang="en-US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、</a:t>
            </a:r>
            <a:r>
              <a:rPr lang="en-US" altLang="zh-CN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CPU </a:t>
            </a:r>
            <a:r>
              <a:rPr lang="zh-CN" altLang="en-US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调度、调频控制、</a:t>
            </a:r>
            <a:r>
              <a:rPr lang="en-US" altLang="zh-CN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PID</a:t>
            </a:r>
            <a:r>
              <a:rPr lang="zh-CN" altLang="en-US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、</a:t>
            </a:r>
            <a:r>
              <a:rPr lang="en-US" altLang="zh-CN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SMT</a:t>
            </a:r>
            <a:r>
              <a:rPr lang="zh-CN" altLang="en-US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。负责优化鸿蒙 </a:t>
            </a:r>
            <a:r>
              <a:rPr lang="en-US" altLang="zh-CN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PC </a:t>
            </a:r>
            <a:r>
              <a:rPr lang="zh-CN" altLang="en-US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上的 </a:t>
            </a:r>
            <a:r>
              <a:rPr lang="en-US" altLang="zh-CN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MISC/MIPS </a:t>
            </a:r>
            <a:r>
              <a:rPr lang="zh-CN" altLang="en-US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调频系统与调度策略，降低整机功耗。
参与 </a:t>
            </a:r>
            <a:r>
              <a:rPr lang="en-US" altLang="zh-CN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CPU </a:t>
            </a:r>
            <a:r>
              <a:rPr lang="zh-CN" altLang="en-US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调度与频率调节子系统研发，对齐软硬件接口规范，验证工程样机稳定性。
设计动态 </a:t>
            </a:r>
            <a:r>
              <a:rPr lang="en-US" altLang="zh-CN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target_load </a:t>
            </a:r>
            <a:r>
              <a:rPr lang="zh-CN" altLang="en-US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映射方案，将传统 </a:t>
            </a:r>
            <a:r>
              <a:rPr lang="en-US" altLang="zh-CN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PID </a:t>
            </a:r>
            <a:r>
              <a:rPr lang="zh-CN" altLang="en-US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调频改造为适应突发负载的控制逻辑，缓解频率过冲与响应滞后。
引入负载变化率参数 </a:t>
            </a:r>
            <a:r>
              <a:rPr lang="en-US" altLang="zh-CN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speed</a:t>
            </a:r>
            <a:r>
              <a:rPr lang="zh-CN" altLang="en-US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，结合 </a:t>
            </a:r>
            <a:r>
              <a:rPr lang="en-US" altLang="zh-CN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CPU </a:t>
            </a:r>
            <a:r>
              <a:rPr lang="zh-CN" altLang="en-US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负载趋势预判调频方向，提升响应速度。
优化图形渲染链路 </a:t>
            </a:r>
            <a:r>
              <a:rPr lang="en-US" altLang="zh-CN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SMT </a:t>
            </a:r>
            <a:r>
              <a:rPr lang="zh-CN" altLang="en-US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执行机制，使 </a:t>
            </a:r>
            <a:r>
              <a:rPr lang="en-US" altLang="zh-CN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RT </a:t>
            </a:r>
            <a:r>
              <a:rPr lang="zh-CN" altLang="en-US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线程可在小核上与其他任务并行；工程样机平均功耗降低 </a:t>
            </a:r>
            <a:r>
              <a:rPr lang="en-US" altLang="zh-CN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120mW</a:t>
            </a:r>
            <a:r>
              <a:rPr lang="zh-CN" altLang="en-US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，约占整机功耗 </a:t>
            </a:r>
            <a:r>
              <a:rPr lang="en-US" altLang="zh-CN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3%</a:t>
            </a:r>
            <a:r>
              <a:rPr lang="zh-CN" altLang="en-US" sz="77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，帧数无下降。</a:t>
            </a:r>
            <a:endParaRPr lang="en-US" sz="770">
              <a:solidFill>
                <a:srgbClr val="222222"/>
              </a:solidFill>
              <a:latin typeface="Calibri" panose="020F0502020204030204" pitchFamily="34" charset="0"/>
              <a:ea typeface="微软雅黑" panose="020B0503020204020204" pitchFamily="34" charset="-122"/>
              <a:cs typeface="字由点字典黑 75J"/>
              <a:sym typeface="字由点字典黑 75J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413000" y="1069071"/>
            <a:ext cx="4191000" cy="271998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0" lvl="0" indent="0" algn="l">
              <a:lnSpc>
                <a:spcPts val="2152"/>
              </a:lnSpc>
              <a:spcBef>
                <a:spcPct val="0"/>
              </a:spcBef>
            </a:pPr>
            <a:r>
              <a:rPr lang="en-US" sz="1050" b="1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HarmonyOS </a:t>
            </a:r>
            <a:r>
              <a:rPr lang="zh-CN" altLang="en-US" sz="1050" b="1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内核调度与频率控制优化</a:t>
            </a:r>
            <a:endParaRPr lang="en-US" sz="1050" b="1">
              <a:solidFill>
                <a:srgbClr val="222222"/>
              </a:solidFill>
              <a:latin typeface="Calibri" panose="020F0502020204030204" pitchFamily="34" charset="0"/>
              <a:ea typeface="微软雅黑" panose="020B0503020204020204" pitchFamily="34" charset="-122"/>
              <a:cs typeface="字由点字典黑 75J"/>
              <a:sym typeface="字由点字典黑 75J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97570" y="1106349"/>
            <a:ext cx="2117051" cy="267702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0" lvl="0" indent="0" algn="l">
              <a:lnSpc>
                <a:spcPts val="2152"/>
              </a:lnSpc>
              <a:spcBef>
                <a:spcPct val="0"/>
              </a:spcBef>
            </a:pPr>
            <a:r>
              <a:rPr lang="en-US" sz="90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2025.12 - 2026.05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3276" y="3848504"/>
            <a:ext cx="6361683" cy="1303049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129540" lvl="1" algn="l">
              <a:lnSpc>
                <a:spcPts val="1679"/>
              </a:lnSpc>
            </a:pPr>
            <a:r>
              <a:rPr lang="zh-CN" altLang="en-US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技术栈：</a:t>
            </a:r>
            <a:r>
              <a:rPr lang="en-US" altLang="zh-CN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C++</a:t>
            </a:r>
            <a:r>
              <a:rPr lang="zh-CN" altLang="en-US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、</a:t>
            </a:r>
            <a:r>
              <a:rPr lang="en-US" altLang="zh-CN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MNN</a:t>
            </a:r>
            <a:r>
              <a:rPr lang="zh-CN" altLang="en-US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、</a:t>
            </a:r>
            <a:r>
              <a:rPr lang="en-US" altLang="zh-CN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Android/Linux</a:t>
            </a:r>
            <a:r>
              <a:rPr lang="zh-CN" altLang="en-US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、</a:t>
            </a:r>
            <a:r>
              <a:rPr lang="en-US" altLang="zh-CN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Perfetto</a:t>
            </a:r>
            <a:r>
              <a:rPr lang="zh-CN" altLang="en-US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、</a:t>
            </a:r>
            <a:r>
              <a:rPr lang="en-US" altLang="zh-CN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Simpleperf</a:t>
            </a:r>
            <a:r>
              <a:rPr lang="zh-CN" altLang="en-US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、</a:t>
            </a:r>
            <a:r>
              <a:rPr lang="en-US" altLang="zh-CN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SQL</a:t>
            </a:r>
            <a:r>
              <a:rPr lang="zh-CN" altLang="en-US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、</a:t>
            </a:r>
            <a:r>
              <a:rPr lang="en-US" altLang="zh-CN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sched_setaffinity</a:t>
            </a:r>
            <a:r>
              <a:rPr lang="zh-CN" altLang="en-US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、计算机体系结构。
深入 </a:t>
            </a:r>
            <a:r>
              <a:rPr lang="en-US" altLang="zh-CN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MNN </a:t>
            </a:r>
            <a:r>
              <a:rPr lang="zh-CN" altLang="en-US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移动端 </a:t>
            </a:r>
            <a:r>
              <a:rPr lang="en-US" altLang="zh-CN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CPU </a:t>
            </a:r>
            <a:r>
              <a:rPr lang="zh-CN" altLang="en-US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推理路径，分析 </a:t>
            </a:r>
            <a:r>
              <a:rPr lang="en-US" altLang="zh-CN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Prefill </a:t>
            </a:r>
            <a:r>
              <a:rPr lang="zh-CN" altLang="en-US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与 </a:t>
            </a:r>
            <a:r>
              <a:rPr lang="en-US" altLang="zh-CN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Decode </a:t>
            </a:r>
            <a:r>
              <a:rPr lang="zh-CN" altLang="en-US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在计算密度、同步开销、最优线程数上的差异。
基于 </a:t>
            </a:r>
            <a:r>
              <a:rPr lang="en-US" altLang="zh-CN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Perfetto</a:t>
            </a:r>
            <a:r>
              <a:rPr lang="zh-CN" altLang="en-US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、</a:t>
            </a:r>
            <a:r>
              <a:rPr lang="en-US" altLang="zh-CN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Simpleperf </a:t>
            </a:r>
            <a:r>
              <a:rPr lang="zh-CN" altLang="en-US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与 </a:t>
            </a:r>
            <a:r>
              <a:rPr lang="en-US" altLang="zh-CN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Trace SQL </a:t>
            </a:r>
            <a:r>
              <a:rPr lang="zh-CN" altLang="en-US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建立观测流程，定位线程迁移、主线程等待、工作线程空转、</a:t>
            </a:r>
            <a:r>
              <a:rPr lang="en-US" altLang="zh-CN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IPC </a:t>
            </a:r>
            <a:r>
              <a:rPr lang="zh-CN" altLang="en-US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等长尾问题。
为 </a:t>
            </a:r>
            <a:r>
              <a:rPr lang="en-US" altLang="zh-CN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Prefill/Decode </a:t>
            </a:r>
            <a:r>
              <a:rPr lang="zh-CN" altLang="en-US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分别配置线程数与 </a:t>
            </a:r>
            <a:r>
              <a:rPr lang="en-US" altLang="zh-CN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CPU </a:t>
            </a:r>
            <a:r>
              <a:rPr lang="zh-CN" altLang="en-US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亲和性，使用离线标定性能比生成 </a:t>
            </a:r>
            <a:r>
              <a:rPr lang="en-US" altLang="zh-CN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Prefill </a:t>
            </a:r>
            <a:r>
              <a:rPr lang="zh-CN" altLang="en-US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初始任务区间。
将连续任务空间抽象为区间队列，实现本地优先任务窃取；</a:t>
            </a:r>
            <a:r>
              <a:rPr lang="en-US" altLang="zh-CN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Decode </a:t>
            </a:r>
            <a:r>
              <a:rPr lang="zh-CN" altLang="en-US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阶段在速度约束下选择能耗更低的核心集合。
实验结果：分阶段配置后端到端时延下降约 </a:t>
            </a:r>
            <a:r>
              <a:rPr lang="en-US" altLang="zh-CN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3.09%</a:t>
            </a:r>
            <a:r>
              <a:rPr lang="zh-CN" altLang="en-US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；任务窃取将 </a:t>
            </a:r>
            <a:r>
              <a:rPr lang="en-US" altLang="zh-CN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Prefill </a:t>
            </a:r>
            <a:r>
              <a:rPr lang="zh-CN" altLang="en-US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吞吐提升约 </a:t>
            </a:r>
            <a:r>
              <a:rPr lang="en-US" altLang="zh-CN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36.11%</a:t>
            </a:r>
            <a:r>
              <a:rPr lang="zh-CN" altLang="en-US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，端到端时延降低约 </a:t>
            </a:r>
            <a:r>
              <a:rPr lang="en-US" altLang="zh-CN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10.09%</a:t>
            </a:r>
            <a:r>
              <a:rPr lang="zh-CN" altLang="en-US" sz="72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。</a:t>
            </a:r>
            <a:endParaRPr lang="en-US" sz="720">
              <a:solidFill>
                <a:srgbClr val="222222"/>
              </a:solidFill>
              <a:latin typeface="Calibri" panose="020F0502020204030204" pitchFamily="34" charset="0"/>
              <a:ea typeface="微软雅黑" panose="020B0503020204020204" pitchFamily="34" charset="-122"/>
              <a:cs typeface="字由点字典黑 75J"/>
              <a:sym typeface="字由点字典黑 75J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413000" y="3552001"/>
            <a:ext cx="4191000" cy="271036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0" lvl="0" indent="0" algn="l">
              <a:lnSpc>
                <a:spcPts val="2152"/>
              </a:lnSpc>
              <a:spcBef>
                <a:spcPct val="0"/>
              </a:spcBef>
            </a:pPr>
            <a:r>
              <a:rPr lang="zh-CN" altLang="en-US" sz="980" b="1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移动端 </a:t>
            </a:r>
            <a:r>
              <a:rPr lang="en-US" altLang="zh-CN" sz="980" b="1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LLM </a:t>
            </a:r>
            <a:r>
              <a:rPr lang="zh-CN" altLang="en-US" sz="980" b="1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异构多核 </a:t>
            </a:r>
            <a:r>
              <a:rPr lang="en-US" altLang="zh-CN" sz="980" b="1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CPU </a:t>
            </a:r>
            <a:r>
              <a:rPr lang="zh-CN" altLang="en-US" sz="980" b="1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推理调度优化</a:t>
            </a:r>
            <a:endParaRPr lang="en-US" sz="980" b="1">
              <a:solidFill>
                <a:srgbClr val="222222"/>
              </a:solidFill>
              <a:latin typeface="Calibri" panose="020F0502020204030204" pitchFamily="34" charset="0"/>
              <a:ea typeface="微软雅黑" panose="020B0503020204020204" pitchFamily="34" charset="-122"/>
              <a:cs typeface="字由点字典黑 75J"/>
              <a:sym typeface="字由点字典黑 75J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06927" y="3552001"/>
            <a:ext cx="2117051" cy="267702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0" lvl="0" indent="0" algn="l">
              <a:lnSpc>
                <a:spcPts val="2152"/>
              </a:lnSpc>
              <a:spcBef>
                <a:spcPct val="0"/>
              </a:spcBef>
            </a:pPr>
            <a:r>
              <a:rPr lang="en-US" sz="90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2025.01 - 2026.04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75890" y="1129235"/>
            <a:ext cx="1849311" cy="226985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0" lvl="0" indent="0" algn="l">
              <a:lnSpc>
                <a:spcPts val="1822"/>
              </a:lnSpc>
              <a:spcBef>
                <a:spcPct val="0"/>
              </a:spcBef>
            </a:pPr>
            <a:r>
              <a:rPr lang="zh-CN" altLang="en-US" sz="85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华为技术有限公司 </a:t>
            </a:r>
            <a:r>
              <a:rPr lang="en-US" altLang="zh-CN" sz="85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| </a:t>
            </a:r>
            <a:r>
              <a:rPr lang="zh-CN" altLang="en-US" sz="85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内核研发实习生</a:t>
            </a:r>
            <a:endParaRPr lang="en-US" sz="850">
              <a:solidFill>
                <a:srgbClr val="222222"/>
              </a:solidFill>
              <a:latin typeface="Calibri" panose="020F0502020204030204" pitchFamily="34" charset="0"/>
              <a:ea typeface="微软雅黑" panose="020B0503020204020204" pitchFamily="34" charset="-122"/>
              <a:cs typeface="字由点字典黑 75J"/>
              <a:sym typeface="字由点字典黑 75J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424754" y="3574887"/>
            <a:ext cx="1849311" cy="226985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marL="0" lvl="0" indent="0" algn="l">
              <a:lnSpc>
                <a:spcPts val="1822"/>
              </a:lnSpc>
              <a:spcBef>
                <a:spcPct val="0"/>
              </a:spcBef>
            </a:pPr>
            <a:r>
              <a:rPr lang="zh-CN" altLang="en-US" sz="85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个人独立研究 </a:t>
            </a:r>
            <a:r>
              <a:rPr lang="en-US" altLang="zh-CN" sz="85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/ </a:t>
            </a:r>
            <a:r>
              <a:rPr lang="zh-CN" altLang="en-US" sz="85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 75J"/>
                <a:sym typeface="字由点字典黑 75J"/>
              </a:rPr>
              <a:t>本科毕业设计</a:t>
            </a:r>
            <a:endParaRPr lang="en-US" sz="850">
              <a:solidFill>
                <a:srgbClr val="222222"/>
              </a:solidFill>
              <a:latin typeface="Calibri" panose="020F0502020204030204" pitchFamily="34" charset="0"/>
              <a:ea typeface="微软雅黑" panose="020B0503020204020204" pitchFamily="34" charset="-122"/>
              <a:cs typeface="字由点字典黑 75J"/>
              <a:sym typeface="字由点字典黑 75J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63276" y="349223"/>
            <a:ext cx="6624277" cy="0"/>
          </a:xfrm>
          <a:prstGeom prst="line">
            <a:avLst/>
          </a:prstGeom>
          <a:ln w="19050" cap="flat">
            <a:solidFill>
              <a:srgbClr val="446898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372447" y="57879"/>
            <a:ext cx="1979185" cy="460367"/>
          </a:xfrm>
          <a:custGeom>
            <a:avLst/>
            <a:gdLst/>
            <a:ahLst/>
            <a:cxnLst/>
            <a:rect l="l" t="t" r="r" b="b"/>
            <a:pathLst>
              <a:path w="1979185" h="460367">
                <a:moveTo>
                  <a:pt x="0" y="0"/>
                </a:moveTo>
                <a:lnTo>
                  <a:pt x="1979185" y="0"/>
                </a:lnTo>
                <a:lnTo>
                  <a:pt x="1979185" y="460368"/>
                </a:lnTo>
                <a:lnTo>
                  <a:pt x="0" y="4603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86991" y="125857"/>
            <a:ext cx="167634" cy="167634"/>
          </a:xfrm>
          <a:custGeom>
            <a:avLst/>
            <a:gdLst/>
            <a:ahLst/>
            <a:cxnLst/>
            <a:rect l="l" t="t" r="r" b="b"/>
            <a:pathLst>
              <a:path w="167634" h="167634">
                <a:moveTo>
                  <a:pt x="0" y="0"/>
                </a:moveTo>
                <a:lnTo>
                  <a:pt x="167634" y="0"/>
                </a:lnTo>
                <a:lnTo>
                  <a:pt x="167634" y="167634"/>
                </a:lnTo>
                <a:lnTo>
                  <a:pt x="0" y="1676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82659" y="69394"/>
            <a:ext cx="1053770" cy="233525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zh-CN" altLang="en-US" sz="1050" b="1">
                <a:solidFill>
                  <a:srgbClr val="375679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思源黑体 Medium"/>
                <a:sym typeface="思源黑体 Medium"/>
              </a:rPr>
              <a:t>实习与项目经历</a:t>
            </a:r>
            <a:endParaRPr lang="en-US" sz="1050" b="1">
              <a:solidFill>
                <a:srgbClr val="375679"/>
              </a:solidFill>
              <a:latin typeface="Calibri" panose="020F0502020204030204" pitchFamily="34" charset="0"/>
              <a:ea typeface="微软雅黑" panose="020B0503020204020204" pitchFamily="34" charset="-122"/>
              <a:cs typeface="思源黑体 Medium"/>
              <a:sym typeface="思源黑体 Medium"/>
            </a:endParaRPr>
          </a:p>
        </p:txBody>
      </p:sp>
      <p:sp>
        <p:nvSpPr>
          <p:cNvPr id="14" name="AutoShape 14"/>
          <p:cNvSpPr/>
          <p:nvPr/>
        </p:nvSpPr>
        <p:spPr>
          <a:xfrm flipH="1" flipV="1">
            <a:off x="381972" y="57879"/>
            <a:ext cx="0" cy="9392906"/>
          </a:xfrm>
          <a:prstGeom prst="line">
            <a:avLst/>
          </a:prstGeom>
          <a:ln w="19050" cap="flat">
            <a:solidFill>
              <a:srgbClr val="446898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6800050" y="9888375"/>
            <a:ext cx="160300" cy="325410"/>
          </a:xfrm>
          <a:prstGeom prst="rect">
            <a:avLst/>
          </a:prstGeom>
        </p:spPr>
        <p:txBody>
          <a:bodyPr wrap="square" lIns="25400" tIns="12700" rIns="25400" bIns="1270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900">
                <a:solidFill>
                  <a:srgbClr val="222222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字由点字典黑"/>
                <a:sym typeface="字由点字典黑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807</Words>
  <Application>Microsoft Office PowerPoint</Application>
  <PresentationFormat>自定义</PresentationFormat>
  <Paragraphs>37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思源黑体 Medium</vt:lpstr>
      <vt:lpstr>Office Theme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李建国（嵌入式）</dc:title>
  <cp:lastModifiedBy>Jianguo Li</cp:lastModifiedBy>
  <cp:revision>3</cp:revision>
  <dcterms:created xsi:type="dcterms:W3CDTF">2006-08-16T00:00:00Z</dcterms:created>
  <dcterms:modified xsi:type="dcterms:W3CDTF">2026-06-11T13:42:30Z</dcterms:modified>
  <dc:identifier>DAGew4RAayU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{"Label":"1","ContentProducer":"001191110105MA01AN806X00000","ProduceID":"DAGew4RAayU","ReservedCode1":"","ContentPropagator":"001191110105MA01AN806X00000","PropagateID":"DAGew4RAayU","ReservedCode2":""}</vt:lpwstr>
  </property>
</Properties>
</file>